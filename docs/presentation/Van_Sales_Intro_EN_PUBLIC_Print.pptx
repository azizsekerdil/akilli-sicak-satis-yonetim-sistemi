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7223760" y="-1097280"/>
            <a:ext cx="6400800" cy="6400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0120" y="1188720"/>
            <a:ext cx="6766560" cy="3657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7498079" cy="192024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700" b="1">
                <a:solidFill>
                  <a:srgbClr val="000000"/>
                </a:solidFill>
                <a:latin typeface="DejaVu Sans"/>
              </a:rPr>
              <a:t>Smart Van Sales</a:t>
            </a:r>
          </a:p>
          <a:p>
            <a:pPr algn="l"/>
            <a:r>
              <a:rPr sz="4700" b="1">
                <a:solidFill>
                  <a:srgbClr val="000000"/>
                </a:solidFill>
                <a:latin typeface="DejaVu Sans"/>
              </a:rPr>
              <a:t>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703320"/>
            <a:ext cx="6949440" cy="7315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DejaVu Sans"/>
              </a:rPr>
              <a:t>End-to-end direct-store-delivery platform for food &amp; beverage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4617720"/>
            <a:ext cx="991209" cy="38404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60120" y="4617720"/>
            <a:ext cx="991209" cy="384048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2F3A8C"/>
                </a:solidFill>
                <a:latin typeface="DejaVu Sans"/>
              </a:rPr>
              <a:t>Hot Sale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97633" y="4617720"/>
            <a:ext cx="1170432" cy="38404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2097633" y="4617720"/>
            <a:ext cx="1170432" cy="384048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2F3A8C"/>
                </a:solidFill>
                <a:latin typeface="DejaVu Sans"/>
              </a:rPr>
              <a:t>FEFO Stock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4369" y="4617720"/>
            <a:ext cx="1887321" cy="38404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14369" y="4617720"/>
            <a:ext cx="1887321" cy="384048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2F3A8C"/>
                </a:solidFill>
                <a:latin typeface="DejaVu Sans"/>
              </a:rPr>
              <a:t>Route Optimisation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47995" y="4617720"/>
            <a:ext cx="1528876" cy="38404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447995" y="4617720"/>
            <a:ext cx="1528876" cy="384048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2F3A8C"/>
                </a:solidFill>
                <a:latin typeface="DejaVu Sans"/>
              </a:rPr>
              <a:t>Local-first AI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" y="5577840"/>
            <a:ext cx="822960" cy="411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60120" y="5806440"/>
            <a:ext cx="7315200" cy="3657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DejaVu Sans"/>
              </a:rPr>
              <a:t>From the factory to the shop shelf — one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5806440"/>
            <a:ext cx="2468880" cy="3657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F766E"/>
                </a:solidFill>
                <a:latin typeface="DejaVu Sans"/>
              </a:rPr>
              <a:t>v1.0.0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02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10424160" cy="32004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DejaVu Sans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45920"/>
            <a:ext cx="10424160" cy="13716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DejaVu Sans"/>
              </a:rPr>
              <a:t>At day end, everyone quotes</a:t>
            </a:r>
          </a:p>
          <a:p>
            <a:pPr algn="l"/>
            <a:r>
              <a:rPr sz="3600" b="1">
                <a:solidFill>
                  <a:srgbClr val="000000"/>
                </a:solidFill>
                <a:latin typeface="DejaVu Sans"/>
              </a:rPr>
              <a:t>a different number.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246120"/>
            <a:ext cx="10058400" cy="13716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DejaVu Sans"/>
              </a:rPr>
              <a:t>When van stock, invoices raised, cash collected and the physical count are each kept separately, nobody can trace where the evening's discrepancy came from.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03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DejaVu Sans"/>
              </a:rPr>
              <a:t>Four places it breaks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DejaVu Sans"/>
              </a:rPr>
              <a:t>Where van sales operations most reliably lose money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12724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Guessed van stock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59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What was loaded is in a notebook, what was sold is on receipts. When they disagree at night, the variance belongs to nobody.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7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36207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47103" y="312724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Expiry leakage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3" y="3566159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Short-dated stock sits on the shelf while a newer batch is sold. The write-off is discovered only at disposal.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7824" y="463600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Route blindness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074920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Routes are built from habit. Nobody measures the relationship between kilometres driven and revenue earned.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236207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47103" y="463600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Credit 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3" y="5074920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The credit limit lives on paper; the office learns about the over-limit sale after the rep has already made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04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DejaVu Sans"/>
              </a:rPr>
              <a:t>The chain this system covers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DejaVu Sans"/>
              </a:rPr>
              <a:t>Every link feeds from the previous one — no manual re-entry anywhere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62656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2F3A8C"/>
          </a:solidFill>
          <a:ln w="12700">
            <a:solidFill>
              <a:srgbClr val="2F3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58368" y="2962656"/>
            <a:ext cx="1225295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DejaVu Sans"/>
              </a:rPr>
              <a:t>Factory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75103" y="2962656"/>
            <a:ext cx="201168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B7280"/>
                </a:solidFill>
                <a:latin typeface="DejaVu Sans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76272" y="2962656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267712" y="2962656"/>
            <a:ext cx="1225295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11827"/>
                </a:solidFill>
                <a:latin typeface="DejaVu Sans"/>
              </a:rPr>
              <a:t>Central Depot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4448" y="2962656"/>
            <a:ext cx="201168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B7280"/>
                </a:solidFill>
                <a:latin typeface="DejaVu Sans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85615" y="2962656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877055" y="2962656"/>
            <a:ext cx="1225295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11827"/>
                </a:solidFill>
                <a:latin typeface="DejaVu Sans"/>
              </a:rPr>
              <a:t>Regional Depot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93792" y="2962656"/>
            <a:ext cx="201168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B7280"/>
                </a:solidFill>
                <a:latin typeface="DejaVu Sans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94959" y="2962656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486399" y="2962656"/>
            <a:ext cx="1225295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11827"/>
                </a:solidFill>
                <a:latin typeface="DejaVu Sans"/>
              </a:rPr>
              <a:t>Van Loading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3136" y="2962656"/>
            <a:ext cx="201168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B7280"/>
                </a:solidFill>
                <a:latin typeface="DejaVu Sans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4303" y="2962656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095743" y="2962656"/>
            <a:ext cx="1225295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11827"/>
                </a:solidFill>
                <a:latin typeface="DejaVu Sans"/>
              </a:rPr>
              <a:t>Sales Van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962656"/>
            <a:ext cx="201168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B7280"/>
                </a:solidFill>
                <a:latin typeface="DejaVu Sans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13647" y="2962656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705087" y="2962656"/>
            <a:ext cx="1225295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11827"/>
                </a:solidFill>
                <a:latin typeface="DejaVu Sans"/>
              </a:rPr>
              <a:t>Salesperson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21823" y="2962656"/>
            <a:ext cx="201168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B7280"/>
                </a:solidFill>
                <a:latin typeface="DejaVu Sans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22991" y="2962656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0314431" y="2962656"/>
            <a:ext cx="1225295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11827"/>
                </a:solidFill>
                <a:latin typeface="DejaVu Sans"/>
              </a:rPr>
              <a:t>Daily Route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36008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58368" y="4636008"/>
            <a:ext cx="1225295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11827"/>
                </a:solidFill>
                <a:latin typeface="DejaVu Sans"/>
              </a:rPr>
              <a:t>Customer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75103" y="4636008"/>
            <a:ext cx="201168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B7280"/>
                </a:solidFill>
                <a:latin typeface="DejaVu Sans"/>
              </a:rPr>
              <a:t>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176272" y="4636008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2267712" y="4636008"/>
            <a:ext cx="1225295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11827"/>
                </a:solidFill>
                <a:latin typeface="DejaVu Sans"/>
              </a:rPr>
              <a:t>Hot Sale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84448" y="4636008"/>
            <a:ext cx="201168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B7280"/>
                </a:solidFill>
                <a:latin typeface="DejaVu Sans"/>
              </a:rPr>
              <a:t>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785615" y="4636008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3877055" y="4636008"/>
            <a:ext cx="1225295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11827"/>
                </a:solidFill>
                <a:latin typeface="DejaVu Sans"/>
              </a:rPr>
              <a:t>Invoice / Waybill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93792" y="4636008"/>
            <a:ext cx="201168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B7280"/>
                </a:solidFill>
                <a:latin typeface="DejaVu Sans"/>
              </a:rPr>
              <a:t>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394959" y="4636008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486399" y="4636008"/>
            <a:ext cx="1225295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11827"/>
                </a:solidFill>
                <a:latin typeface="DejaVu Sans"/>
              </a:rPr>
              <a:t>Collection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03136" y="4636008"/>
            <a:ext cx="201168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B7280"/>
                </a:solidFill>
                <a:latin typeface="DejaVu Sans"/>
              </a:rPr>
              <a:t>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04303" y="4636008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095743" y="4636008"/>
            <a:ext cx="1225295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11827"/>
                </a:solidFill>
                <a:latin typeface="DejaVu Sans"/>
              </a:rPr>
              <a:t>Return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4636008"/>
            <a:ext cx="201168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B7280"/>
                </a:solidFill>
                <a:latin typeface="DejaVu Sans"/>
              </a:rPr>
              <a:t>›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613647" y="4636008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705087" y="4636008"/>
            <a:ext cx="1225295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11827"/>
                </a:solidFill>
                <a:latin typeface="DejaVu Sans"/>
              </a:rPr>
              <a:t>Van Count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21823" y="4636008"/>
            <a:ext cx="201168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B7280"/>
                </a:solidFill>
                <a:latin typeface="DejaVu Sans"/>
              </a:rPr>
              <a:t>›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222991" y="4636008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2F3A8C"/>
          </a:solidFill>
          <a:ln w="12700">
            <a:solidFill>
              <a:srgbClr val="2F3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10314431" y="4636008"/>
            <a:ext cx="1225295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DejaVu Sans"/>
              </a:rPr>
              <a:t>Day-End Reconciliation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05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DejaVu Sans"/>
              </a:rPr>
              <a:t>The measure of the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DejaVu Sans"/>
              </a:rPr>
              <a:t>Figures measured from the running system, not targets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423160"/>
            <a:ext cx="2560320" cy="148132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2660904"/>
            <a:ext cx="2560320" cy="6858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0F766E"/>
                </a:solidFill>
                <a:latin typeface="DejaVu Sans"/>
              </a:rPr>
              <a:t>118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92424"/>
            <a:ext cx="2231136" cy="41148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DejaVu Sans"/>
              </a:rPr>
              <a:t>database tables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2423160"/>
            <a:ext cx="2560320" cy="148132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401568" y="2660904"/>
            <a:ext cx="2560320" cy="6858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0F766E"/>
                </a:solidFill>
                <a:latin typeface="DejaVu Sans"/>
              </a:rPr>
              <a:t>293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392424"/>
            <a:ext cx="2231136" cy="41148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DejaVu Sans"/>
              </a:rPr>
              <a:t>API endpoints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7" y="2423160"/>
            <a:ext cx="2560320" cy="148132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36207" y="2660904"/>
            <a:ext cx="2560320" cy="6858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0F766E"/>
                </a:solidFill>
                <a:latin typeface="DejaVu Sans"/>
              </a:rPr>
              <a:t>49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799" y="3392424"/>
            <a:ext cx="2231136" cy="41148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DejaVu Sans"/>
              </a:rPr>
              <a:t>interface screens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0847" y="2423160"/>
            <a:ext cx="2560320" cy="148132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070847" y="2660904"/>
            <a:ext cx="2560320" cy="6858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0F766E"/>
                </a:solidFill>
                <a:latin typeface="DejaVu Sans"/>
              </a:rPr>
              <a:t>207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39" y="3392424"/>
            <a:ext cx="2231136" cy="41148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DejaVu Sans"/>
              </a:rPr>
              <a:t>permissions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178808"/>
            <a:ext cx="2560320" cy="148132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66928" y="4416552"/>
            <a:ext cx="2560320" cy="6858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0F766E"/>
                </a:solidFill>
                <a:latin typeface="DejaVu Sans"/>
              </a:rPr>
              <a:t>37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148072"/>
            <a:ext cx="2231136" cy="41148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DejaVu Sans"/>
              </a:rPr>
              <a:t>business services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01568" y="4178808"/>
            <a:ext cx="2560320" cy="148132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401568" y="4416552"/>
            <a:ext cx="2560320" cy="6858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0F766E"/>
                </a:solidFill>
                <a:latin typeface="DejaVu Sans"/>
              </a:rPr>
              <a:t>21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5148072"/>
            <a:ext cx="2231136" cy="41148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DejaVu Sans"/>
              </a:rPr>
              <a:t>built-in reports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7" y="4178808"/>
            <a:ext cx="2560320" cy="148132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236207" y="4416552"/>
            <a:ext cx="2560320" cy="6858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0F766E"/>
                </a:solidFill>
                <a:latin typeface="DejaVu Sans"/>
              </a:rPr>
              <a:t>942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799" y="5148072"/>
            <a:ext cx="2231136" cy="41148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DejaVu Sans"/>
              </a:rPr>
              <a:t>database indexes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70847" y="4178808"/>
            <a:ext cx="2560320" cy="148132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070847" y="4416552"/>
            <a:ext cx="2560320" cy="6858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0F766E"/>
                </a:solidFill>
                <a:latin typeface="DejaVu Sans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39" y="5148072"/>
            <a:ext cx="2231136" cy="41148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DejaVu Sans"/>
              </a:rPr>
              <a:t>languages (TR / EN)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06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896112"/>
            <a:ext cx="7863840" cy="4572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DejaVu Sans"/>
              </a:rPr>
              <a:t>The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71600"/>
            <a:ext cx="10058400" cy="32004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DejaVu Sans"/>
              </a:rPr>
              <a:t>20 KPIs and 7 live charts — panel and reports share one aggregation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766163" y="1751076"/>
            <a:ext cx="8659368" cy="4898898"/>
          </a:xfrm>
          <a:prstGeom prst="rect">
            <a:avLst/>
          </a:prstGeom>
          <a:noFill/>
          <a:ln w="15875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02-panel-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167" y="1783080"/>
            <a:ext cx="8595360" cy="4834890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51560" y="2240280"/>
            <a:ext cx="2743200" cy="13716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0" b="1">
                <a:solidFill>
                  <a:srgbClr val="1E293B"/>
                </a:solidFill>
                <a:latin typeface="DejaVu San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2487168"/>
            <a:ext cx="7863840" cy="9144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DejaVu Sans"/>
              </a:rPr>
              <a:t>Hot Sale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3054096" y="3529584"/>
            <a:ext cx="1005840" cy="411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017520" y="3767328"/>
            <a:ext cx="7680960" cy="54864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DejaVu Sans"/>
              </a:rPr>
              <a:t>The screen a rep opens hundreds of times a 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144768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07 / 32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08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DejaVu Sans"/>
              </a:rPr>
              <a:t>Six taps at the customer's door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DejaVu Sans"/>
              </a:rPr>
              <a:t>Built to be used one-handed, standing in a shop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1"/>
            <a:ext cx="3505200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127248"/>
            <a:ext cx="2938272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DejaVu Sans"/>
              </a:rPr>
              <a:t>1 · Pick the customer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59"/>
            <a:ext cx="2938272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DejaVu Sans"/>
              </a:rPr>
              <a:t>Balance, credit limit, risk and recent purchases all on the same screen.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6448" y="2907791"/>
            <a:ext cx="3505200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46448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657344" y="3127248"/>
            <a:ext cx="2938272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DejaVu Sans"/>
              </a:rPr>
              <a:t>2 · See the van stock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7344" y="3566159"/>
            <a:ext cx="2938272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DejaVu Sans"/>
              </a:rPr>
              <a:t>Only what is physically on the van; short-dated items carry a coloured warning badge.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5968" y="2907791"/>
            <a:ext cx="3505200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8125968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436864" y="3127248"/>
            <a:ext cx="2938272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DejaVu Sans"/>
              </a:rPr>
              <a:t>3 · Read the AI suggestion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6864" y="3566159"/>
            <a:ext cx="2938272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DejaVu Sans"/>
              </a:rPr>
              <a:t>From average consumption and days since the last purchase, the system estimates what has run out.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16552"/>
            <a:ext cx="3505200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566928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77824" y="4636008"/>
            <a:ext cx="2938272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DejaVu Sans"/>
              </a:rPr>
              <a:t>4 · Build the basket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" y="5074920"/>
            <a:ext cx="2938272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DejaVu Sans"/>
              </a:rPr>
              <a:t>Enter quantity and unit; campaigns apply themselves and free goods appear as their own line.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6448" y="4416552"/>
            <a:ext cx="3505200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4346448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657344" y="4636008"/>
            <a:ext cx="2938272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DejaVu Sans"/>
              </a:rPr>
              <a:t>5 · Take payment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57344" y="5074920"/>
            <a:ext cx="2938272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DejaVu Sans"/>
              </a:rPr>
              <a:t>Cash, card, transfer, cheque or open account. A cheque does not reduce the balance until it clears.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25968" y="4416552"/>
            <a:ext cx="3505200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8125968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436864" y="4636008"/>
            <a:ext cx="2938272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DejaVu Sans"/>
              </a:rPr>
              <a:t>6 · Complete the sale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6864" y="5074920"/>
            <a:ext cx="2938272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DejaVu Sans"/>
              </a:rPr>
              <a:t>Order, delivery, invoice, ledger entry and stock issue are created in one go.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09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3566160" cy="32004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DejaVu Sans"/>
              </a:rPr>
              <a:t>HOT SALE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3566160" cy="9144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DejaVu Sans"/>
              </a:rPr>
              <a:t>The salesperson's screen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615184"/>
            <a:ext cx="640080" cy="36576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2880360"/>
            <a:ext cx="3566160" cy="31089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·  Picking a customer shows balance, credit limit, risk score and past orders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4B5563"/>
                </a:solidFill>
                <a:latin typeface="DejaVu Sans"/>
              </a:rPr>
              <a:t>·  The middle column is the van's real stock; short-dated items carry a badge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4B5563"/>
                </a:solidFill>
                <a:latin typeface="DejaVu Sans"/>
              </a:rPr>
              <a:t>·  Campaigns apply themselves — free goods appear as their own line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4B5563"/>
                </a:solidFill>
                <a:latin typeface="DejaVu Sans"/>
              </a:rPr>
              <a:t>·  Totals compute live: gross, line discount, campaign, VAT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4B5563"/>
                </a:solidFill>
                <a:latin typeface="DejaVu Sans"/>
              </a:rPr>
              <a:t>·  Payment method is chosen and the sale posts in one transaction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94276" y="1449324"/>
            <a:ext cx="7150608" cy="4050220"/>
          </a:xfrm>
          <a:prstGeom prst="rect">
            <a:avLst/>
          </a:prstGeom>
          <a:noFill/>
          <a:ln w="15875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03-sicak-satis-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481328"/>
            <a:ext cx="7086600" cy="3986212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10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10424160" cy="32004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DejaVu Sans"/>
              </a:rPr>
              <a:t>DESIGN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45920"/>
            <a:ext cx="10424160" cy="13716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DejaVu Sans"/>
              </a:rPr>
              <a:t>All of it is written, or none of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246120"/>
            <a:ext cx="11064240" cy="804672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2F3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96112" y="3483863"/>
            <a:ext cx="10424160" cy="34747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766E"/>
                </a:solidFill>
                <a:latin typeface="DejaVu Sans"/>
              </a:rPr>
              <a:t>order + delivery + invoice + ledger + payment  =  1 transaction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434840"/>
            <a:ext cx="10058400" cy="13716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DejaVu Sans"/>
              </a:rPr>
              <a:t>Order → delivery → FEFO stock issue → invoice → ledger → payment is a single database transaction. If any step fails, none of it is written. There is no such thing as a half-finished sale.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11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DejaVu Sans"/>
              </a:rPr>
              <a:t>Working offline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DejaVu Sans"/>
              </a:rPr>
              <a:t>Coverage is not guaranteed in the field — the system assumes that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12724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Held on the device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59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With no connection the basket waits on the device and the rep keeps selling.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7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36207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47103" y="312724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Safe to resend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3" y="3566159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Every basket carries a unique id. Submitting the same sale twice never creates a second record.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7824" y="463600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Reference data cached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074920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Product, customer and campaign lists open without a connection.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236207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47103" y="463600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Installable app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3" y="5074920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Installs to a phone or tablet as a PWA — no app store process required.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51560" y="2240280"/>
            <a:ext cx="2743200" cy="13716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0" b="1">
                <a:solidFill>
                  <a:srgbClr val="1E293B"/>
                </a:solidFill>
                <a:latin typeface="DejaVu San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2487168"/>
            <a:ext cx="7863840" cy="9144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DejaVu Sans"/>
              </a:rPr>
              <a:t>Stock</a:t>
            </a:r>
          </a:p>
        </p:txBody>
      </p:sp>
      <p:sp>
        <p:nvSpPr>
          <p:cNvPr id="5" name="Rectangle 4"/>
          <p:cNvSpPr/>
          <p:nvPr/>
        </p:nvSpPr>
        <p:spPr>
          <a:xfrm>
            <a:off x="3054096" y="3529584"/>
            <a:ext cx="1005840" cy="411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017520" y="3767328"/>
            <a:ext cx="7680960" cy="54864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DejaVu Sans"/>
              </a:rPr>
              <a:t>In food distribution, stock means dates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144768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12 / 32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13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DejaVu Sans"/>
              </a:rPr>
              <a:t>An immutable stock ledger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DejaVu Sans"/>
              </a:rPr>
              <a:t>The structure that settles the day-end argument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12724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Movements are never deleted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59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Stock movements are only appended; a correction is itself a new movement. History cannot be rewritten.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7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36207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47103" y="312724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Balance derives from the ledger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3" y="3566159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A balance is kept for fast reads but can be rebuilt from the ledger at any moment.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7824" y="463600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FEFO by default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074920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The nearest-expiry batch leaves first. In food that is not a preference, it is a requirement.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236207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47103" y="463600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Batch traceability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3" y="5074920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Which batch went to which customer is recorded — a recall produces a list immediately.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14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3566160" cy="32004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DejaVu Sans"/>
              </a:rPr>
              <a:t>VAN LOADING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3566160" cy="9144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DejaVu Sans"/>
              </a:rPr>
              <a:t>AI-assisted loading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615184"/>
            <a:ext cx="640080" cy="36576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2880360"/>
            <a:ext cx="3566160" cy="31089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·  Past consumption of the route's customers, weekday and season effects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4B5563"/>
                </a:solidFill>
                <a:latin typeface="DejaVu Sans"/>
              </a:rPr>
              <a:t>·  Stock already on the van is subtracted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4B5563"/>
                </a:solidFill>
                <a:latin typeface="DejaVu Sans"/>
              </a:rPr>
              <a:t>·  Volume and weight capacity cannot be exceeded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4B5563"/>
                </a:solidFill>
                <a:latin typeface="DejaVu Sans"/>
              </a:rPr>
              <a:t>·  Every line carries its own reason and confidence level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4B5563"/>
                </a:solidFill>
                <a:latin typeface="DejaVu Sans"/>
              </a:rPr>
              <a:t>·  The suggestion is editable — the rep has the last word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94276" y="1449324"/>
            <a:ext cx="7150608" cy="4050220"/>
          </a:xfrm>
          <a:prstGeom prst="rect">
            <a:avLst/>
          </a:prstGeom>
          <a:noFill/>
          <a:ln w="15875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08-arac-yukleme-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481328"/>
            <a:ext cx="7086600" cy="3986212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15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10424160" cy="32004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DejaVu Sans"/>
              </a:rPr>
              <a:t>DAY-END RECONCILIATION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45920"/>
            <a:ext cx="10424160" cy="13716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DejaVu Sans"/>
              </a:rPr>
              <a:t>The variance is computed, not debated.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246120"/>
            <a:ext cx="11064240" cy="1133856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2F3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96112" y="3483863"/>
            <a:ext cx="10424160" cy="676656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766E"/>
                </a:solidFill>
                <a:latin typeface="DejaVu Sans"/>
              </a:rPr>
              <a:t>theoretical = opening + loaded + reloaded − sold + returned − wastage</a:t>
            </a:r>
          </a:p>
          <a:p>
            <a:pPr algn="l"/>
            <a:r>
              <a:rPr sz="1600" b="1">
                <a:solidFill>
                  <a:srgbClr val="0F766E"/>
                </a:solidFill>
                <a:latin typeface="DejaVu Sans"/>
              </a:rPr>
              <a:t>variance    = theoretical − physical count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764024"/>
            <a:ext cx="10058400" cy="13716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DejaVu Sans"/>
              </a:rPr>
              <a:t>Every term comes from the movement ledger; there is no hand-maintained counter anywhere. A non-zero variance flags the session, writes an adjustment movement and notifies the manager.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16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DejaVu Sans"/>
              </a:rPr>
              <a:t>A van is a warehouse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DejaVu Sans"/>
              </a:rPr>
              <a:t>We did not write a separate 'van stock' subsystem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12724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Same rules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59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A van is a warehouse of type VEHICLE. FEFO, counting, transfers and valuation all work on it unchanged.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7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36207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47103" y="312724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Created automatically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3" y="3566159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Saving a vehicle creates its warehouse; there is nothing extra to set up.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7824" y="463600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Capacity enforced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074920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Volume and weight are checked during loading and an overload is refused.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236207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47103" y="463600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Why this way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3" y="5074920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A second stock subsystem would be a copy of the same rules that drifts apart over time.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51560" y="2240280"/>
            <a:ext cx="2743200" cy="13716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0" b="1">
                <a:solidFill>
                  <a:srgbClr val="1E293B"/>
                </a:solidFill>
                <a:latin typeface="DejaVu San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2487168"/>
            <a:ext cx="7863840" cy="9144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DejaVu Sans"/>
              </a:rPr>
              <a:t>The Field</a:t>
            </a:r>
          </a:p>
        </p:txBody>
      </p:sp>
      <p:sp>
        <p:nvSpPr>
          <p:cNvPr id="5" name="Rectangle 4"/>
          <p:cNvSpPr/>
          <p:nvPr/>
        </p:nvSpPr>
        <p:spPr>
          <a:xfrm>
            <a:off x="3054096" y="3529584"/>
            <a:ext cx="1005840" cy="411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017520" y="3767328"/>
            <a:ext cx="7680960" cy="54864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DejaVu Sans"/>
              </a:rPr>
              <a:t>Routes, visits and position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144768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17 / 32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18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DejaVu Sans"/>
              </a:rPr>
              <a:t>Route optimisation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DejaVu Sans"/>
              </a:rPr>
              <a:t>Capacity, time windows and service time solved together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12724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Two-layer solver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59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Google OR-Tools when installed; otherwise the system's own Clarke-Wright + 2-opt solver takes over.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7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36207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47103" y="312724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The feature never disappears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3" y="3566159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A missing 100 MB dependency does not disable routing — the fallback solver always works.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7824" y="463600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Real constraints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074920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Vehicle volume and weight, customer opening hours, service time, working-day limit and priority customers.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236207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47103" y="463600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Plan vs actual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3" y="5074920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Completed, skipped and delayed stops, plus the planned-versus-actual kilometre difference.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19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3566160" cy="32004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DejaVu Sans"/>
              </a:rPr>
              <a:t>THE FIELD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3566160" cy="9144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DejaVu Sans"/>
              </a:rPr>
              <a:t>Routes and 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615184"/>
            <a:ext cx="640080" cy="36576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2880360"/>
            <a:ext cx="3566160" cy="31089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·  Daily routes are generated from customers' visit days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4B5563"/>
                </a:solidFill>
                <a:latin typeface="DejaVu Sans"/>
              </a:rPr>
              <a:t>·  Optimisation solves capacity, time windows and service time together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4B5563"/>
                </a:solidFill>
                <a:latin typeface="DejaVu Sans"/>
              </a:rPr>
              <a:t>·  Which solver ran is stated on screen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4B5563"/>
                </a:solidFill>
                <a:latin typeface="DejaVu Sans"/>
              </a:rPr>
              <a:t>·  Planned versus actual kilometres are reported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94276" y="1449324"/>
            <a:ext cx="7150608" cy="4050220"/>
          </a:xfrm>
          <a:prstGeom prst="rect">
            <a:avLst/>
          </a:prstGeom>
          <a:noFill/>
          <a:ln w="15875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10-rotalar-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481328"/>
            <a:ext cx="7086600" cy="3986212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51560" y="2240280"/>
            <a:ext cx="2743200" cy="13716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0" b="1">
                <a:solidFill>
                  <a:srgbClr val="1E293B"/>
                </a:solidFill>
                <a:latin typeface="DejaVu San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2487168"/>
            <a:ext cx="7863840" cy="9144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DejaVu Sans"/>
              </a:rPr>
              <a:t>Analytics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3054096" y="3529584"/>
            <a:ext cx="1005840" cy="411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017520" y="3767328"/>
            <a:ext cx="7680960" cy="54864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DejaVu Sans"/>
              </a:rPr>
              <a:t>A forecast you cannot measure is a forecast you cannot trust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144768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20 / 32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21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DejaVu Sans"/>
              </a:rPr>
              <a:t>Demand forecasting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DejaVu Sans"/>
              </a:rPr>
              <a:t>FMCG demand is intermittent — classical methods do badly on 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12724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Classify first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59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Is the series smooth, intermittent or lumpy? The method follows from the class; no single method is imposed.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7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36207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47103" y="312724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Then choose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3" y="3566159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Croston, SBA, TSB, Holt-Winters or a day-of-week seasonal naive — whichever suits this particular series.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7824" y="463600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Back-test the choice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074920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Validated with MAE / MAPE / RMSE. The method used and its error are shown on screen.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236207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47103" y="463600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Zeros count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3" y="5074920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The calendar is zero-filled; those zeros are what define intermittent demand in the first place.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22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DejaVu Sans"/>
              </a:rPr>
              <a:t>Dashboard and reports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DejaVu Sans"/>
              </a:rPr>
              <a:t>Panel and report share one aggregation — they cannot disagree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12724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20 KPIs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59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Daily and monthly sales, target achievement, gross margin, collections, open and overdue receivables, stock value, expiring soon.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7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36207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47103" y="312724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7 live charts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3" y="3566159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Sales trend, category split, top products and salespeople, regional distribution, collections versus sales.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7824" y="463600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21 built-in reports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074920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Sales, salesperson, customer, SKU, brand, region, route, collections, risk, stock, expiry, wastage, returns, campaigns, profitability, targets.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236207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47103" y="463600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PDF · Excel · CSV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3" y="5074920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Written as UTF-8 with BOM so Turkish characters open correctly in Excel with no import step.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23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3566160" cy="32004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DejaVu Sans"/>
              </a:rPr>
              <a:t>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3566160" cy="9144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DejaVu Sans"/>
              </a:rPr>
              <a:t>Demand forecasting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615184"/>
            <a:ext cx="640080" cy="36576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2880360"/>
            <a:ext cx="3566160" cy="31089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·  The series is classified first: smooth, intermittent or lumpy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4B5563"/>
                </a:solidFill>
                <a:latin typeface="DejaVu Sans"/>
              </a:rPr>
              <a:t>·  The method follows from the class — none is imposed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4B5563"/>
                </a:solidFill>
                <a:latin typeface="DejaVu Sans"/>
              </a:rPr>
              <a:t>·  The choice is validated by back-testing (MAE / MAPE / RMSE)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4B5563"/>
                </a:solidFill>
                <a:latin typeface="DejaVu Sans"/>
              </a:rPr>
              <a:t>·  Method used, error and confidence interval are shown on screen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94276" y="1449324"/>
            <a:ext cx="7150608" cy="4050220"/>
          </a:xfrm>
          <a:prstGeom prst="rect">
            <a:avLst/>
          </a:prstGeom>
          <a:noFill/>
          <a:ln w="15875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18-tahminler-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481328"/>
            <a:ext cx="7086600" cy="3986212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51560" y="2240280"/>
            <a:ext cx="2743200" cy="13716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0" b="1">
                <a:solidFill>
                  <a:srgbClr val="1E293B"/>
                </a:solidFill>
                <a:latin typeface="DejaVu San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2487168"/>
            <a:ext cx="7863840" cy="9144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DejaVu Sans"/>
              </a:rPr>
              <a:t>Artificial Intelligence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054096" y="3529584"/>
            <a:ext cx="1005840" cy="411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017520" y="3767328"/>
            <a:ext cx="7680960" cy="54864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DejaVu Sans"/>
              </a:rPr>
              <a:t>Local-first, explainable, budgeted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144768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24 / 32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25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DejaVu Sans"/>
              </a:rPr>
              <a:t>Three providers, one interface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DejaVu Sans"/>
              </a:rPr>
              <a:t>The router picks a model per task and fails over when one is down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12724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LM Studio — local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59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Runs on your own machine, costs nothing and no data leaves the building. The default first choice.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7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36207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47103" y="312724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NVIDIA NIM — cloud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3" y="3566159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Steps in when the local model is not enough; over 100 models selected by task type.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7824" y="463600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Claude — cloud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074920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Configurable for long-context and harder reasoning work.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236207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47103" y="463600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Budget protection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3" y="5074920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When the monthly limit is reached the paid providers stop while the local model keeps working.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26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DejaVu Sans"/>
              </a:rPr>
              <a:t>The AI Sales Manager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DejaVu Sans"/>
              </a:rPr>
              <a:t>Plain-language question → read-only query → justified answer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12724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Example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59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«Show the 10 best-selling reps today» · «Show customers with high collection risk» · «Which customers did we lose in the last 90 days?»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7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36207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47103" y="312724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It shows its 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3" y="3566159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The data behind the answer is visible in an expandable panel — "where did that number come from" is answerable.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7824" y="463600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Read-only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074920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A single SELECT may be executed. No data-modifying command is accepted.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236207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47103" y="463600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Closed tables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3" y="5074920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User, session and audit tables are entirely off limits to AI queries.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27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3566160" cy="32004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DejaVu Sans"/>
              </a:rPr>
              <a:t>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3566160" cy="9144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DejaVu Sans"/>
              </a:rPr>
              <a:t>The AI Sales Manager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615184"/>
            <a:ext cx="640080" cy="36576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2880360"/>
            <a:ext cx="3566160" cy="31089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·  A question is asked in plain language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4B5563"/>
                </a:solidFill>
                <a:latin typeface="DejaVu Sans"/>
              </a:rPr>
              <a:t>·  The system produces and runs a read-only query only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4B5563"/>
                </a:solidFill>
                <a:latin typeface="DejaVu Sans"/>
              </a:rPr>
              <a:t>·  The data behind the answer is visible in an expandable panel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4B5563"/>
                </a:solidFill>
                <a:latin typeface="DejaVu Sans"/>
              </a:rPr>
              <a:t>·  User, session and audit tables are off limits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94276" y="1449324"/>
            <a:ext cx="7150608" cy="4050220"/>
          </a:xfrm>
          <a:prstGeom prst="rect">
            <a:avLst/>
          </a:prstGeom>
          <a:noFill/>
          <a:ln w="15875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19-ai-mudur-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481328"/>
            <a:ext cx="7086600" cy="3986212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28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DejaVu Sans"/>
              </a:rPr>
              <a:t>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DejaVu Sans"/>
              </a:rPr>
              <a:t>Authorisation is checked separately at three layers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12724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19 roles · 207 permissions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59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Screen, action and data scope are enforced separately. A rep sees only their own records.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7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36207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47103" y="312724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No privilege escalation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3" y="3566159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Nobody can assign a role above their own or grant a permission they do not hold.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7824" y="463600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Chained audit log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074920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Each entry carries the previous one's digest. Alter a historical row and the chain breaks, reporting where.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236207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47103" y="463600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Secrets stay secret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3" y="5074920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API keys are never stored in the database, are stripped before logging and are masked on screen.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29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3566160" cy="32004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DejaVu Sans"/>
              </a:rPr>
              <a:t>COMPLIANCE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3566160" cy="9144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DejaVu Sans"/>
              </a:rPr>
              <a:t>Compliance and human rights layer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615184"/>
            <a:ext cx="640080" cy="36576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2880360"/>
            <a:ext cx="3566160" cy="31089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·  The personal-data inventory is measured from the code, not assumed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4B5563"/>
                </a:solidFill>
                <a:latin typeface="DejaVu Sans"/>
              </a:rPr>
              <a:t>·  Consent and notice are kept as separate records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4B5563"/>
                </a:solidFill>
                <a:latin typeface="DejaVu Sans"/>
              </a:rPr>
              <a:t>·  Missing evidence yields 'insufficient evidence', never 'compliant'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4B5563"/>
                </a:solidFill>
                <a:latin typeface="DejaVu Sans"/>
              </a:rPr>
              <a:t>·  Every decision put to the authority engine — refusals included — leaves a chained receipt and an appeal path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94276" y="1449324"/>
            <a:ext cx="7150608" cy="4050220"/>
          </a:xfrm>
          <a:prstGeom prst="rect">
            <a:avLst/>
          </a:prstGeom>
          <a:noFill/>
          <a:ln w="15875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22-uyumluluk-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481328"/>
            <a:ext cx="7086600" cy="3986212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30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DejaVu Sans"/>
              </a:rPr>
              <a:t>Other screens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DejaVu Sans"/>
              </a:rPr>
              <a:t>The system has 49 screens; six of them here</a:t>
            </a:r>
          </a:p>
        </p:txBody>
      </p:sp>
      <p:sp>
        <p:nvSpPr>
          <p:cNvPr id="8" name="Rectangle 7"/>
          <p:cNvSpPr/>
          <p:nvPr/>
        </p:nvSpPr>
        <p:spPr>
          <a:xfrm>
            <a:off x="924915" y="2071115"/>
            <a:ext cx="3282696" cy="1874519"/>
          </a:xfrm>
          <a:prstGeom prst="rect">
            <a:avLst/>
          </a:prstGeom>
          <a:noFill/>
          <a:ln w="15875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04-musteriler-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919" y="2103120"/>
            <a:ext cx="3218688" cy="1810512"/>
          </a:xfrm>
          <a:prstGeom prst="rect">
            <a:avLst/>
          </a:prstGeom>
          <a:ln/>
        </p:spPr>
      </p:pic>
      <p:sp>
        <p:nvSpPr>
          <p:cNvPr id="9" name="TextBox 8"/>
          <p:cNvSpPr txBox="1"/>
          <p:nvPr/>
        </p:nvSpPr>
        <p:spPr>
          <a:xfrm>
            <a:off x="956919" y="3986783"/>
            <a:ext cx="3218688" cy="25603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4B5563"/>
                </a:solidFill>
                <a:latin typeface="DejaVu Sans"/>
              </a:rPr>
              <a:t>Customers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54499" y="2071115"/>
            <a:ext cx="3282696" cy="1874519"/>
          </a:xfrm>
          <a:prstGeom prst="rect">
            <a:avLst/>
          </a:prstGeom>
          <a:noFill/>
          <a:ln w="15875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06-urunler-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6503" y="2103120"/>
            <a:ext cx="3218688" cy="1810512"/>
          </a:xfrm>
          <a:prstGeom prst="rect">
            <a:avLst/>
          </a:prstGeom>
          <a:ln/>
        </p:spPr>
      </p:pic>
      <p:sp>
        <p:nvSpPr>
          <p:cNvPr id="12" name="TextBox 11"/>
          <p:cNvSpPr txBox="1"/>
          <p:nvPr/>
        </p:nvSpPr>
        <p:spPr>
          <a:xfrm>
            <a:off x="4486503" y="3986783"/>
            <a:ext cx="3218688" cy="25603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4B5563"/>
                </a:solidFill>
                <a:latin typeface="DejaVu Sans"/>
              </a:rPr>
              <a:t>Products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84083" y="2071115"/>
            <a:ext cx="3282696" cy="1874519"/>
          </a:xfrm>
          <a:prstGeom prst="rect">
            <a:avLst/>
          </a:prstGeom>
          <a:noFill/>
          <a:ln w="15875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16-raporlar-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6087" y="2103120"/>
            <a:ext cx="3218688" cy="1810512"/>
          </a:xfrm>
          <a:prstGeom prst="rect">
            <a:avLst/>
          </a:prstGeom>
          <a:ln/>
        </p:spPr>
      </p:pic>
      <p:sp>
        <p:nvSpPr>
          <p:cNvPr id="15" name="TextBox 14"/>
          <p:cNvSpPr txBox="1"/>
          <p:nvPr/>
        </p:nvSpPr>
        <p:spPr>
          <a:xfrm>
            <a:off x="8016087" y="3986783"/>
            <a:ext cx="3218688" cy="25603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4B5563"/>
                </a:solidFill>
                <a:latin typeface="DejaVu Sans"/>
              </a:rPr>
              <a:t>Reports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915" y="4549140"/>
            <a:ext cx="3282696" cy="1874519"/>
          </a:xfrm>
          <a:prstGeom prst="rect">
            <a:avLst/>
          </a:prstGeom>
          <a:noFill/>
          <a:ln w="15875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12-gun-yonetimi-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919" y="4581144"/>
            <a:ext cx="3218688" cy="1810512"/>
          </a:xfrm>
          <a:prstGeom prst="rect">
            <a:avLst/>
          </a:prstGeom>
          <a:ln/>
        </p:spPr>
      </p:pic>
      <p:sp>
        <p:nvSpPr>
          <p:cNvPr id="18" name="TextBox 17"/>
          <p:cNvSpPr txBox="1"/>
          <p:nvPr/>
        </p:nvSpPr>
        <p:spPr>
          <a:xfrm>
            <a:off x="956919" y="6464808"/>
            <a:ext cx="3218688" cy="25603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4B5563"/>
                </a:solidFill>
                <a:latin typeface="DejaVu Sans"/>
              </a:rPr>
              <a:t>Day sessions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54499" y="4549140"/>
            <a:ext cx="3282696" cy="1874519"/>
          </a:xfrm>
          <a:prstGeom prst="rect">
            <a:avLst/>
          </a:prstGeom>
          <a:noFill/>
          <a:ln w="15875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Picture 18" descr="28-roller-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6503" y="4581144"/>
            <a:ext cx="3218688" cy="1810512"/>
          </a:xfrm>
          <a:prstGeom prst="rect">
            <a:avLst/>
          </a:prstGeom>
          <a:ln/>
        </p:spPr>
      </p:pic>
      <p:sp>
        <p:nvSpPr>
          <p:cNvPr id="21" name="TextBox 20"/>
          <p:cNvSpPr txBox="1"/>
          <p:nvPr/>
        </p:nvSpPr>
        <p:spPr>
          <a:xfrm>
            <a:off x="4486503" y="6464808"/>
            <a:ext cx="3218688" cy="25603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4B5563"/>
                </a:solidFill>
                <a:latin typeface="DejaVu Sans"/>
              </a:rPr>
              <a:t>Roles &amp; permissions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84083" y="4549140"/>
            <a:ext cx="3282696" cy="1874519"/>
          </a:xfrm>
          <a:prstGeom prst="rect">
            <a:avLst/>
          </a:prstGeom>
          <a:noFill/>
          <a:ln w="15875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27-egitim-e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16087" y="4581144"/>
            <a:ext cx="3218688" cy="1810512"/>
          </a:xfrm>
          <a:prstGeom prst="rect">
            <a:avLst/>
          </a:prstGeom>
          <a:ln/>
        </p:spPr>
      </p:pic>
      <p:sp>
        <p:nvSpPr>
          <p:cNvPr id="24" name="TextBox 23"/>
          <p:cNvSpPr txBox="1"/>
          <p:nvPr/>
        </p:nvSpPr>
        <p:spPr>
          <a:xfrm>
            <a:off x="8016087" y="6464808"/>
            <a:ext cx="3218688" cy="25603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4B5563"/>
                </a:solidFill>
                <a:latin typeface="DejaVu Sans"/>
              </a:rPr>
              <a:t>Training centre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31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DejaVu Sans"/>
              </a:rPr>
              <a:t>Technology and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DejaVu Sans"/>
              </a:rPr>
              <a:t>Nothing that was not already installed has been made mandatory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212848"/>
            <a:ext cx="5376672" cy="361188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212848"/>
            <a:ext cx="5376672" cy="50292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487168"/>
            <a:ext cx="4608576" cy="41148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DejaVu Sans"/>
              </a:rPr>
              <a:t>Technology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3035808"/>
            <a:ext cx="4608576" cy="26517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DejaVu Sans"/>
              </a:rPr>
              <a:t>·  Python 3.11 · FastAPI · SQLAlchemy 2.0</a:t>
            </a:r>
          </a:p>
          <a:p>
            <a:pPr algn="l">
              <a:spcBef>
                <a:spcPts val="1300"/>
              </a:spcBef>
            </a:pPr>
            <a:r>
              <a:rPr sz="1200" b="0">
                <a:solidFill>
                  <a:srgbClr val="4B5563"/>
                </a:solidFill>
                <a:latin typeface="DejaVu Sans"/>
              </a:rPr>
              <a:t>·  React 18 · TypeScript · Vite · Tailwind</a:t>
            </a:r>
          </a:p>
          <a:p>
            <a:pPr algn="l">
              <a:spcBef>
                <a:spcPts val="1300"/>
              </a:spcBef>
            </a:pPr>
            <a:r>
              <a:rPr sz="1200" b="0">
                <a:solidFill>
                  <a:srgbClr val="4B5563"/>
                </a:solidFill>
                <a:latin typeface="DejaVu Sans"/>
              </a:rPr>
              <a:t>·  SQLite by default — PostgreSQL optional</a:t>
            </a:r>
          </a:p>
          <a:p>
            <a:pPr algn="l">
              <a:spcBef>
                <a:spcPts val="1300"/>
              </a:spcBef>
            </a:pPr>
            <a:r>
              <a:rPr sz="1200" b="0">
                <a:solidFill>
                  <a:srgbClr val="4B5563"/>
                </a:solidFill>
                <a:latin typeface="DejaVu Sans"/>
              </a:rPr>
              <a:t>·  PWA: offline capable, installable</a:t>
            </a:r>
          </a:p>
          <a:p>
            <a:pPr algn="l">
              <a:spcBef>
                <a:spcPts val="1300"/>
              </a:spcBef>
            </a:pPr>
            <a:r>
              <a:rPr sz="1200" b="0">
                <a:solidFill>
                  <a:srgbClr val="4B5563"/>
                </a:solidFill>
                <a:latin typeface="DejaVu Sans"/>
              </a:rPr>
              <a:t>·  Redis and Docker are not required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2212848"/>
            <a:ext cx="5376672" cy="361188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54496" y="2212848"/>
            <a:ext cx="5376672" cy="502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638544" y="2487168"/>
            <a:ext cx="4608576" cy="41148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DejaVu Sans"/>
              </a:rPr>
              <a:t>Setup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38544" y="3035808"/>
            <a:ext cx="4608576" cy="26517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DejaVu Sans"/>
              </a:rPr>
              <a:t>·  setup.ps1 — one-command install</a:t>
            </a:r>
          </a:p>
          <a:p>
            <a:pPr algn="l">
              <a:spcBef>
                <a:spcPts val="1300"/>
              </a:spcBef>
            </a:pPr>
            <a:r>
              <a:rPr sz="1200" b="0">
                <a:solidFill>
                  <a:srgbClr val="4B5563"/>
                </a:solidFill>
                <a:latin typeface="DejaVu Sans"/>
              </a:rPr>
              <a:t>·  start.bat — one-click start</a:t>
            </a:r>
          </a:p>
          <a:p>
            <a:pPr algn="l">
              <a:spcBef>
                <a:spcPts val="1300"/>
              </a:spcBef>
            </a:pPr>
            <a:r>
              <a:rPr sz="1200" b="0">
                <a:solidFill>
                  <a:srgbClr val="4B5563"/>
                </a:solidFill>
                <a:latin typeface="DejaVu Sans"/>
              </a:rPr>
              <a:t>·  Demo data: 500 customers, 12 months history</a:t>
            </a:r>
          </a:p>
          <a:p>
            <a:pPr algn="l">
              <a:spcBef>
                <a:spcPts val="1300"/>
              </a:spcBef>
            </a:pPr>
            <a:r>
              <a:rPr sz="1200" b="0">
                <a:solidFill>
                  <a:srgbClr val="4B5563"/>
                </a:solidFill>
                <a:latin typeface="DejaVu Sans"/>
              </a:rPr>
              <a:t>·  14-lesson in-app training centre</a:t>
            </a:r>
          </a:p>
          <a:p>
            <a:pPr algn="l">
              <a:spcBef>
                <a:spcPts val="1300"/>
              </a:spcBef>
            </a:pPr>
            <a:r>
              <a:rPr sz="1200" b="0">
                <a:solidFill>
                  <a:srgbClr val="4B5563"/>
                </a:solidFill>
                <a:latin typeface="DejaVu Sans"/>
              </a:rPr>
              <a:t>·  TR / EN — instant language switch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60120" y="2103120"/>
            <a:ext cx="10058400" cy="9144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996696" y="3127248"/>
            <a:ext cx="1005840" cy="411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60120" y="3383280"/>
            <a:ext cx="9601200" cy="54864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DejaVu Sans"/>
              </a:rPr>
              <a:t>Every movement in the field recorded, every figure accounted for at day 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4224528"/>
            <a:ext cx="1916582" cy="47548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60120" y="4224528"/>
            <a:ext cx="1916582" cy="475488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11827"/>
                </a:solidFill>
                <a:latin typeface="DejaVu Sans"/>
              </a:rPr>
              <a:t>Install: setup.ps1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41294" y="4224528"/>
            <a:ext cx="1748332" cy="47548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041294" y="4224528"/>
            <a:ext cx="1748332" cy="475488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11827"/>
                </a:solidFill>
                <a:latin typeface="DejaVu Sans"/>
              </a:rPr>
              <a:t>Start: start.bat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54219" y="4224528"/>
            <a:ext cx="2757830" cy="47548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954219" y="4224528"/>
            <a:ext cx="2757830" cy="475488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11827"/>
                </a:solidFill>
                <a:latin typeface="DejaVu Sans"/>
              </a:rPr>
              <a:t>Guide: docs/USER_GUIDE_EN.md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806440"/>
            <a:ext cx="7772400" cy="3657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DejaVu Sans"/>
              </a:rPr>
              <a:t>This deck is generated from the product's own 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5806440"/>
            <a:ext cx="2468880" cy="3657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F766E"/>
                </a:solidFill>
                <a:latin typeface="DejaVu Sans"/>
              </a:rPr>
              <a:t>v1.0.0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