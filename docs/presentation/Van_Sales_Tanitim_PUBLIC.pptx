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7223760" y="-1097280"/>
            <a:ext cx="6400800" cy="6400800"/>
          </a:xfrm>
          <a:prstGeom prst="roundRect">
            <a:avLst>
              <a:gd name="adj" fmla="val 6000"/>
            </a:avLst>
          </a:prstGeom>
          <a:solidFill>
            <a:srgbClr val="11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18872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7498079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DejaVu Sans"/>
              </a:rPr>
              <a:t>Akıllı Sıcak Satış</a:t>
            </a:r>
          </a:p>
          <a:p>
            <a:pPr algn="l"/>
            <a:r>
              <a:rPr sz="4700" b="1">
                <a:solidFill>
                  <a:srgbClr val="FFFFFF"/>
                </a:solidFill>
                <a:latin typeface="DejaVu Sans"/>
              </a:rPr>
              <a:t>Yönetim Sistemi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70332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Yiyecek &amp; içecek dağıtımı için uçtan uca van sales platformu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4617720"/>
            <a:ext cx="1260043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4617720"/>
            <a:ext cx="126004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818CF8"/>
                </a:solidFill>
                <a:latin typeface="DejaVu Sans"/>
              </a:rPr>
              <a:t>Sıcak Satış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66467" y="4617720"/>
            <a:ext cx="1080820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366467" y="4617720"/>
            <a:ext cx="1080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818CF8"/>
                </a:solidFill>
                <a:latin typeface="DejaVu Sans"/>
              </a:rPr>
              <a:t>FEFO Stok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93591" y="4617720"/>
            <a:ext cx="1887321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93591" y="4617720"/>
            <a:ext cx="188732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818CF8"/>
                </a:solidFill>
                <a:latin typeface="DejaVu Sans"/>
              </a:rPr>
              <a:t>Rota Optimizasyonu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7217" y="4617720"/>
            <a:ext cx="1708099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27217" y="4617720"/>
            <a:ext cx="170809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818CF8"/>
                </a:solidFill>
                <a:latin typeface="DejaVu Sans"/>
              </a:rPr>
              <a:t>Yerel Yapay Zeka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5577840"/>
            <a:ext cx="82296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20" y="5806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DejaVu Sans"/>
              </a:rPr>
              <a:t>Fabrikadan bakkal rafına — tek sistem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8064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DejaVu Sans"/>
              </a:rPr>
              <a:t>v1.0.0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02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DejaVu Sans"/>
              </a:rPr>
              <a:t>SORUN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DejaVu Sans"/>
              </a:rPr>
              <a:t>Sıcak satışta gün sonunda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DejaVu Sans"/>
              </a:rPr>
              <a:t>herkes farklı rakam söyler.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461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DejaVu Sans"/>
              </a:rPr>
              <a:t>Araçtaki stok, kesilen fatura, tahsil edilen nakit ve fiziki sayım ayrı ayrı tutulduğunda; akşam çıkan farkın kaynağı bulunamaz.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03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Sahada kırılan dört nokta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Van sales operasyonunda en sık maliyet üreten kalemler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Araç stoğu tahmini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Sabah ne yüklendiği not defterinde, gün içinde ne satıldığı fişte. İkisi akşam tutmayınca fark kimsenin üstüne yazılamaz.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SKT kaçağı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Son kullanma tarihi yakın ürün rafta beklerken yeni parti satılır. Fire, ancak imha edilirken fark edilir.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Rota körlüğü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Rota alışkanlıkla kurulur. Kat edilen kilometre ile yapılan ciro arasındaki ilişki ölçülmez.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Tahsilat riski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Kredi limiti kâğıt üstündedir; plasiyer sahada limiti aşan satışı yaptıktan sonra öğrenilir.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04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Sistemin kapsadığı zincir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Her halka bir öncekinden veri alır — hiçbir yerde elle aktarım yok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DejaVu Sans"/>
              </a:rPr>
              <a:t>Fabrika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5103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76272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267712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Merkez Depo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85615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877055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Bölge Deposu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59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399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Araç Yükleme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4303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95743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Satış Aracı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13647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705087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Plasiyer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21823" y="2962656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22991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314431" y="2962656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Günlük Rota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Müşteri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75103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76272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267712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Sıcak Satış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4448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85615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77055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Fatura / İrsaliye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3792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59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486399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Tahsilat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3136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04303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95743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İade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13647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705087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1F5F9"/>
                </a:solidFill>
                <a:latin typeface="DejaVu Sans"/>
              </a:rPr>
              <a:t>Araç Sayımı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1823" y="4636008"/>
            <a:ext cx="201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DejaVu Sans"/>
              </a:rPr>
              <a:t>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22991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314431" y="4636008"/>
            <a:ext cx="122529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DejaVu Sans"/>
              </a:rPr>
              <a:t>Gün Sonu Mutabakatı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05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Sistemin ölçüsü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Rakamlar çalışan sistemden ölçüldü, hedef değil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660904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118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92424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veritabanı tablosu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401568" y="2660904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293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392424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API uç noktası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36207" y="2660904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392424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arayüz ekranı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0847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70847" y="2660904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207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3392424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yetki tanımı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66928" y="441655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48072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iş servisi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01568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401568" y="441655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148072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hazır rapor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7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36207" y="441655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942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799" y="5148072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veritabanı indeksi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7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070847" y="441655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DD4BF"/>
                </a:solidFill>
                <a:latin typeface="DejaVu San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39" y="5148072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dil (TR / EN)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06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DejaVu Sans"/>
              </a:rPr>
              <a:t>Kontrol paneli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DejaVu Sans"/>
              </a:rPr>
              <a:t>20 KPI ve 7 canlı grafik — panel ile raporlar aynı toplulaştırmadan beslenir</a:t>
            </a:r>
          </a:p>
        </p:txBody>
      </p:sp>
      <p:sp>
        <p:nvSpPr>
          <p:cNvPr id="8" name="Rectangle 7"/>
          <p:cNvSpPr/>
          <p:nvPr/>
        </p:nvSpPr>
        <p:spPr>
          <a:xfrm>
            <a:off x="1766163" y="1751076"/>
            <a:ext cx="8659368" cy="4898898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2-panel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783080"/>
            <a:ext cx="8595360" cy="48348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DejaVu Sans"/>
              </a:rPr>
              <a:t>Sıcak Satış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Plasiyerin günde yüzlerce kez açtığı ekran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08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Müşteri kapısında altı dokunuş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Ekran, sahada tek elle kullanılacak şekilde kuruldu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1 · Müşteriyi seç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Bakiye, kredi limiti, risk durumu ve son alışverişleri aynı ekranda görünür.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644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4644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57344" y="312724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2 · Araç stoğunu gör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344" y="3566159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Araçta fiilen ne varsa o listelenir; SKT'si yaklaşan ürün renkli rozetle uyarır.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596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12596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36864" y="312724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3 · Yapay zeka önerisi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6864" y="3566159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Müşterinin ortalama tüketimi ve son alış tarihinden hareketle hangi ürünün bitmiş olduğu tahmin edilir.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77824" y="463600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4 · Sepeti kur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074920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Miktar ve birim girilir; kampanya arka planda kendiliğinden uygulanır, bedava ürün ayrı satır olur.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644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34644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657344" y="463600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5 · Tahsilatı 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7344" y="5074920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Nakit, kart, havale, çek veya açık hesap. Çek tahsil edilene kadar bakiyeden düşmez.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596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12596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436864" y="4636008"/>
            <a:ext cx="2938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ejaVu Sans"/>
              </a:rPr>
              <a:t>6 · Satışı tamamla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6864" y="5074920"/>
            <a:ext cx="29382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Sipariş, teslimat, fatura, cari kayıt ve stok düşümü tek seferde oluşur.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09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SICAK SATIŞ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Plasiyerin ekranı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Müşteri seçilince bakiye, kredi limiti, risk skoru ve geçmiş alışverişler görünür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Orta sütun aracın gerçek stoğu; SKT'si yaklaşan ürün rozetle uyarır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Kampanya arka planda uygulanır — bedava ürün ayrı satır olarak eklenir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Toplamlar canlı hesaplanır: brüt, satır iskontosu, kampanya, KDV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Ödeme tipi seçilir ve satış tek işlemde tamamlanır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03-sicak-satis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10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DejaVu Sans"/>
              </a:rPr>
              <a:t>TASARIM KARARI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DejaVu Sans"/>
              </a:rPr>
              <a:t>Ya hepsi yazılır, ya hiçbiri.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46120"/>
            <a:ext cx="11064240" cy="80467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3483863"/>
            <a:ext cx="10424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DejaVu Sans"/>
              </a:rPr>
              <a:t>sipariş + teslimat + fatura + cari + tahsilat  =  1 işlem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4348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DejaVu Sans"/>
              </a:rPr>
              <a:t>Sipariş → teslimat → FEFO stok çıkışı → fatura → cari kayıt → tahsilat zinciri tek veritabanı işlemidir. Bir adım başarısız olursa hiçbiri yazılmaz. Yarım kalmış satış diye bir durum oluşmaz.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11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Çevrimdışı çalışma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Sahada kapsama her zaman yoktur — sistem bunu varsayar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Cihazda tutulur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Bağlantı yokken sepet cihazda bekler; plasiyer satışa devam eder.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Tekrar gönderim güvenli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Her sepet benzersiz bir kimlik taşır. Aynı satış iki kez gönderilse bile ikinci kayıt oluşmaz.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Referans veri önbellekte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Ürün, müşteri ve kampanya listeleri çevrimdışı da açılır.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Kurulabilir uygulama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PWA olarak telefona/tablete kurulur; ayrı mağaza süreci gerekmez.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DejaVu Sans"/>
              </a:rPr>
              <a:t>Stok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Gıda dağıtımında stok, tarih demektir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12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13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Değiştirilemez stok defteri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Gün sonu tartışmasının hakemi olan yapı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Hareket silinmez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Stok hareketleri yalnızca eklenir; düzeltme de yeni bir hareket olarak yazılır. Geçmiş değiştirilemez.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Bakiye defterden türer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Hızlı okuma için bakiye ayrıca tutulur ama her an defterden yeniden üretilebilir.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FEFO varsayılan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Son kullanma tarihi en yakın parti önce çıkar. Gıdada bu bir tercih değil, zorunluluktur.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Parti izlenebilirliği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Hangi partinin hangi müşteriye gittiği kayıtlıdır — geri çağırma anında listelenir.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14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ARAÇ YÜKLEME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Yapay zekâ destekli yükleme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Rotadaki müşterilerin geçmiş tüketimi, haftanın günü ve mevsim etkisi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Araçta hâlihazırda bulunan stok düşülür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Hacim ve ağırlık kapasitesi aşılamaz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Her satır kendi gerekçesini ve güven düzeyini taşır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Öneri düzenlenebilir — son söz plasiyerindir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08-arac-yukleme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15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DejaVu Sans"/>
              </a:rPr>
              <a:t>GÜN SONU MUTABAKATI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DejaVu Sans"/>
              </a:rPr>
              <a:t>Fark artık tartışılmaz, hesaplanır.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46120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3483863"/>
            <a:ext cx="104241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DejaVu Sans"/>
              </a:rPr>
              <a:t>teorik = açılış + yüklenen + ek yükleme − satılan + iade − fire</a:t>
            </a:r>
          </a:p>
          <a:p>
            <a:pPr algn="l"/>
            <a:r>
              <a:rPr sz="1600" b="1">
                <a:solidFill>
                  <a:srgbClr val="2DD4BF"/>
                </a:solidFill>
                <a:latin typeface="DejaVu Sans"/>
              </a:rPr>
              <a:t>fark   = teorik − fiziki sayım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64024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DejaVu Sans"/>
              </a:rPr>
              <a:t>Her terim hareket defterinden gelir; elle tutulan hiçbir sayaç yoktur. Fark sıfırdan farklıysa gün oturumu işaretlenir, düzeltme hareketi yazılır ve yöneticiye bildirim gider.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16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Araç = mobil depo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Ayrı bir 'araç stoğu' alt sistemi yazmadık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Aynı kurallar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Araç, tipi VEHICLE olan bir depodur. FEFO, sayım, transfer ve değerleme araçta da aynen çalışır.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Otomatik kurulum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Araç kaydedilince deposu kendiliğinden oluşur; ayrıca tanımlamak gerekmez.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Kapasite denetimi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Yükleme sırasında hacim ve ağırlık kapasitesi kontrol edilir, aşım engellenir.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Neden böyle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İkinci bir stok alt sistemi, aynı kuralların zamanla ayrışan bir kopyasını üretirdi.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DejaVu Sans"/>
              </a:rPr>
              <a:t>Saha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Rota, ziyaret ve konum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17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18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Rota optimizasyonu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Kapasite, zaman penceresi ve servis süresi birlikte çözülür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İki katmanlı çözücü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Google OR-Tools kuruluysa kesin çözücü; değilse sistemin kendi Clarke-Wright + 2-opt çözücüsü devreye girer.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Özellik kaybolmaz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100 MB'lık bir bağımlılığın kurulu olmaması rotayı devre dışı bırakmaz — yedek çözücü her zaman çalışır.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Gerçek kısıtlar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Araç hacmi ve ağırlığı, müşteri çalışma saatleri, servis süresi, mesai limiti ve öncelikli müşteriler.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Planlanan / gerçekleşen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Tamamlanan, atlanan ve geciken duraklar; planlanan ve gerçekleşen kilometre farkı raporlanır.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19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SAHA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Rota ve harita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Günlük rotalar müşterilerin ziyaret günlerinden üretilir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Optimizasyon kapasite, zaman penceresi ve servis süresini birlikte çözer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Hangi çözücünün çalıştığı ekranda yazar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Planlanan ve gerçekleşen kilometre farkı raporlanır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0-rotalar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DejaVu Sans"/>
              </a:rPr>
              <a:t>Analitik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Ölçülemeyen tahmin, güvenilmez tahmindir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21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Talep tahmini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FMCG talebi kesintilidir — klasik yöntemler bu seride kötü çalışır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Önce sınıflandır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Seri düzgün mü, kesintili mi, düzensiz mi? Yöntem bu sınıfa göre seçilir, tek yöntem dayatılmaz.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Doğru yöntem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Croston, SBA, TSB, Holt-Winters veya haftanın günü mevsimsel naif — hangisi bu seriye uyuyorsa.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Geriye dönük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Seçim MAE / MAPE / RMSE ile doğrulanır. Kullanılan yöntem ve hata payı ekranda gösterilir.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Sıfırlar sayılır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Takvim sıfırlarla doldurulur; kesintili talebi tanımlayan şey zaten o sıfırlardır.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22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Kontrol paneli ve raporlar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Panel ile rapor aynı toplulaştırmadan beslenir — çelişemezler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20 KPI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Günlük/aylık satış, hedef gerçekleşme, brüt kâr, tahsilat, açık ve geciken alacak, stok değeri, kritik stok, SKT yaklaşan.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7 canlı grafik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Satış trendi, kategori kırılımı, en iyi ürün ve plasiyerler, bölge dağılımı, tahsilat/satış karşılaştırması.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21 hazır rapor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Satış, plasiyer, müşteri, SKU, marka, bölge, rota, tahsilat, risk, stok, SKT, fire, iade, kampanya, kârlılık, hedef.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PDF · Excel · 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Türkçe karakterler için UTF-8 BOM ile üretilir; Excel'de içe aktarma adımı gerekmeden düzgün açılır.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23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ANALİTİK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Talep tahmini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Seri önce sınıflandırılır: düzgün, kesintili veya düzensiz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Yöntem sınıfa göre seçilir — tek yöntem dayatılmaz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Seçim geriye dönük testle doğrulanır (MAE / MAPE / RMSE)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Kullanılan yöntem, hata payı ve güven aralığı ekranda görünür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8-tahminler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DejaVu Sans"/>
              </a:rPr>
              <a:t>Yapay Zeka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Yerel öncelikli, açıklanabilir, bütçeli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25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Üç sağlayıcı, tek arayüz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Yönlendirici göreve göre model seçer ve sağlayıcı düşerse yedeğe geçer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LM Studio — yerel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Bilgisayarınızda çalışır, ücret yok, veri dışarı çıkmaz. Varsayılan ilk tercih.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NVIDIA NIM — bulut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Yerel model yetmediğinde devreye girer; 100'den fazla model arasından göreve göre seçim.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Claude — bulut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Uzun bağlam ve karmaşık muhakeme gerektiren işler için yapılandırılabilir.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Bütçe koruması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Aylık limit aşılınca ücretli sağlayıcılar durur, yerel model çalışmaya devam eder.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26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AI Satış Müdürü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Doğal Türkçe soru → salt okunur sorgu → gerekçeli cevap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Örnek sorular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«Bugün en fazla satış yapan 10 plasiyeri getir» · «Tahsilat riski yüksek müşterileri göster» · «Son 90 günde kaybettiğimiz müşteriler»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Kaynağı gösterir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Cevabın hangi veriden üretildiği açılır panelde görünür — rakam nereden geldi sorusu cevapsız kalmaz.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Yalnızca okuma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Tek bir SELECT çalıştırılabilir. Veri değiştiren hiçbir komut kabul edilmez.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Kapalı tablolar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Kullanıcı, oturum ve denetim tabloları yapay zeka sorgularına tamamen kapalıdır.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27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YAPAY ZEKA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AI Satış Müdürü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Doğal Türkçe soru sorulur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Sistem yalnızca okuma sorgusu üretir ve çalıştırır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Cevabın hangi veriden üretildiği açılır panelde görünür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Kullanıcı, oturum ve denetim tabloları erişime kapalıdır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9-ai-mudur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28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Güvenlik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Yetki üç katmanda ayrı ayrı denetlenir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19 rol · 207 izin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Ekran, işlem ve veri kapsamı ayrı ayrı denetlenir. Plasiyer yalnızca kendi kayıtlarını görür.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Yetki yükseltme kapalı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Kimse kendinden üstün bir rol atayamaz, sahip olmadığı bir yetkiyi başkasına veremez.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Zincirli denetim kaydı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Her kayıt bir öncekinin özetini taşır. Geçmiş bir satır değişirse zincir kırılır ve yeri bildirilir.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Sır sızmaz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API anahtarları veritabanında saklanmaz, loglara yazılmadan temizlenir, ekranda maskelenir.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29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DejaVu Sans"/>
              </a:rPr>
              <a:t>UYUMLULUK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DejaVu Sans"/>
              </a:rPr>
              <a:t>Uyumluluk ve insan hakları katmanı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DejaVu Sans"/>
              </a:rPr>
              <a:t>·  Kişisel veri envanteri koddan ölçülerek çıkarılır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Rıza ve aydınlatma ayrı kayıtlar olarak tutulur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Kanıt eksikse sonuç 'uyumlu' değil, 'kanıt yetersiz' olur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94A3B8"/>
                </a:solidFill>
                <a:latin typeface="DejaVu Sans"/>
              </a:rPr>
              <a:t>·  Yetki motoruna sorulan her karar — reddedilenler dâhil — zincirli bir makbuz ve itiraz yolu bırakır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22-uyumluluk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30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Diğer ekranlar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Sistem 49 ekrandan oluşur; burada altı tanesi</a:t>
            </a:r>
          </a:p>
        </p:txBody>
      </p:sp>
      <p:sp>
        <p:nvSpPr>
          <p:cNvPr id="8" name="Rectangle 7"/>
          <p:cNvSpPr/>
          <p:nvPr/>
        </p:nvSpPr>
        <p:spPr>
          <a:xfrm>
            <a:off x="924915" y="2071115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4-musteriler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19" y="2103120"/>
            <a:ext cx="3218688" cy="1810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6919" y="3986783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Müşteriler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4499" y="2071115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06-urunler-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503" y="2103120"/>
            <a:ext cx="3218688" cy="18105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86503" y="3986783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Ürünler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4083" y="2071115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16-raporlar-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087" y="2103120"/>
            <a:ext cx="3218688" cy="18105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16087" y="3986783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Raporlar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915" y="4549140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12-gun-yonetimi-t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919" y="4581144"/>
            <a:ext cx="3218688" cy="18105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6919" y="6464808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Gün yönetimi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54499" y="4549140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28-roller-t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6503" y="4581144"/>
            <a:ext cx="3218688" cy="18105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86503" y="6464808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Roller ve yetkiler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84083" y="4549140"/>
            <a:ext cx="3282696" cy="1874519"/>
          </a:xfrm>
          <a:prstGeom prst="rect">
            <a:avLst/>
          </a:prstGeom>
          <a:noFill/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27-egitim-t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6087" y="4581144"/>
            <a:ext cx="3218688" cy="181051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16087" y="6464808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Eğitim merkezi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DejaVu Sans"/>
              </a:rPr>
              <a:t>v1.0.0   31 /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DejaVu Sans"/>
              </a:rPr>
              <a:t>Teknoloji ve kurulum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DejaVu Sans"/>
              </a:rPr>
              <a:t>Kurulu olmayan hiçbir şey zorunlu kılınmadı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12848"/>
            <a:ext cx="5376672" cy="36118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212848"/>
            <a:ext cx="5376672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487168"/>
            <a:ext cx="46085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DejaVu Sans"/>
              </a:rPr>
              <a:t>Teknoloji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035808"/>
            <a:ext cx="4608576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DejaVu Sans"/>
              </a:rPr>
              <a:t>·  Python 3.11 · FastAPI · SQLAlchemy 2.0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React 18 · TypeScript · Vite · Tailwind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SQLite varsayılan — PostgreSQL opsiyonel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PWA: çevrimdışı çalışma, kurulabilir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Redis ve Docker zorunlu değil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212848"/>
            <a:ext cx="5376672" cy="36118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54496" y="2212848"/>
            <a:ext cx="5376672" cy="502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38544" y="2487168"/>
            <a:ext cx="46085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DejaVu Sans"/>
              </a:rPr>
              <a:t>Kurulum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544" y="3035808"/>
            <a:ext cx="4608576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DejaVu Sans"/>
              </a:rPr>
              <a:t>·  setup.ps1 — tek komutla kurulum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start.bat — tek tıkla başlatma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Demo veri: 500 müşteri, 12 aylık geçmiş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14 derslik uygulama içi eğitim merkezi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94A3B8"/>
                </a:solidFill>
                <a:latin typeface="DejaVu Sans"/>
              </a:rPr>
              <a:t>·  TR / EN — anında dil değişimi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60120" y="2103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DejaVu Sans"/>
              </a:rPr>
              <a:t>Akıllı Sıcak Satış Yönetim Sistemi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" y="3127248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33832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Sahadaki her hareketi kayda geçiren, gün sonunda hesabı veren sistem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224528"/>
            <a:ext cx="1916582" cy="47548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4224528"/>
            <a:ext cx="19165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DejaVu Sans"/>
              </a:rPr>
              <a:t>Kurulum: setup.ps1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1294" y="4224528"/>
            <a:ext cx="2000707" cy="47548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041294" y="4224528"/>
            <a:ext cx="200070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DejaVu Sans"/>
              </a:rPr>
              <a:t>Başlatma: start.bat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06593" y="4224528"/>
            <a:ext cx="3514953" cy="47548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206593" y="4224528"/>
            <a:ext cx="351495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DejaVu Sans"/>
              </a:rPr>
              <a:t>Kılavuz: docs/KULLANIM_KILAVUZU_TR.md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DejaVu Sans"/>
              </a:rPr>
              <a:t>Bu sunum programın kendi sürümünden üretilmiştir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58064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2DD4BF"/>
                </a:solidFill>
                <a:latin typeface="DejaVu Sans"/>
              </a:rPr>
              <a:t>v1.0.0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